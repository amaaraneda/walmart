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0e7baf6a2a47f7" /><Relationship Type="http://schemas.openxmlformats.org/officeDocument/2006/relationships/extended-properties" Target="/docProps/app.xml" Id="Rfbd2bf2022d24d6e" /><Relationship Type="http://schemas.openxmlformats.org/officeDocument/2006/relationships/officeDocument" Target="/ppt/presentation.xml" Id="R5701e83c72e7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51168320e14846"/>
  </p:sldMasterIdLst>
  <p:notesMasterIdLst>
    <p:notesMasterId xmlns:r="http://schemas.openxmlformats.org/officeDocument/2006/relationships" r:id="R8f94177fc02343db"/>
  </p:notesMasterIdLst>
  <p:sldIdLst>
    <p:sldId xmlns:r="http://schemas.openxmlformats.org/officeDocument/2006/relationships" id="256" r:id="R2d244e69aedd4d6f"/>
    <p:sldId xmlns:r="http://schemas.openxmlformats.org/officeDocument/2006/relationships" id="257" r:id="R6f99e87772264b64"/>
    <p:sldId xmlns:r="http://schemas.openxmlformats.org/officeDocument/2006/relationships" id="258" r:id="R391f423506184f89"/>
    <p:sldId xmlns:r="http://schemas.openxmlformats.org/officeDocument/2006/relationships" id="259" r:id="Rc93377c24cb14ceb"/>
    <p:sldId xmlns:r="http://schemas.openxmlformats.org/officeDocument/2006/relationships" id="260" r:id="R54d153ccb9f44596"/>
    <p:sldId xmlns:r="http://schemas.openxmlformats.org/officeDocument/2006/relationships" id="261" r:id="R813779d2439f4145"/>
    <p:sldId xmlns:r="http://schemas.openxmlformats.org/officeDocument/2006/relationships" id="262" r:id="R358b26af028e4e1d"/>
    <p:sldId xmlns:r="http://schemas.openxmlformats.org/officeDocument/2006/relationships" id="263" r:id="R74e890237fca48ea"/>
    <p:sldId xmlns:r="http://schemas.openxmlformats.org/officeDocument/2006/relationships" id="264" r:id="R6d3f2cb7e121478f"/>
    <p:sldId xmlns:r="http://schemas.openxmlformats.org/officeDocument/2006/relationships" id="265" r:id="Rf292eda7040d4a22"/>
    <p:sldId xmlns:r="http://schemas.openxmlformats.org/officeDocument/2006/relationships" id="266" r:id="R40dec7dd34604e2e"/>
    <p:sldId xmlns:r="http://schemas.openxmlformats.org/officeDocument/2006/relationships" id="267" r:id="R6f101714e3de4d4a"/>
    <p:sldId xmlns:r="http://schemas.openxmlformats.org/officeDocument/2006/relationships" id="268" r:id="Rff2ec481405d43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7a1b41d9e4ae9" /><Relationship Type="http://schemas.openxmlformats.org/officeDocument/2006/relationships/slideMaster" Target="/ppt/slideMasters/slideMaster1.xml" Id="R2051168320e14846" /><Relationship Type="http://schemas.openxmlformats.org/officeDocument/2006/relationships/notesMaster" Target="/ppt/notesMasters/notesMaster1.xml" Id="R8f94177fc02343db" /><Relationship Type="http://schemas.openxmlformats.org/officeDocument/2006/relationships/presProps" Target="/ppt/presProps.xml" Id="Rda5780c0b92c46da" /><Relationship Type="http://schemas.openxmlformats.org/officeDocument/2006/relationships/tableStyles" Target="/ppt/tableStyles.xml" Id="R157863913e714c4f" /><Relationship Type="http://schemas.openxmlformats.org/officeDocument/2006/relationships/slide" Target="/ppt/slides/slide1.xml" Id="R2d244e69aedd4d6f" /><Relationship Type="http://schemas.openxmlformats.org/officeDocument/2006/relationships/slide" Target="/ppt/slides/slide2.xml" Id="R6f99e87772264b64" /><Relationship Type="http://schemas.openxmlformats.org/officeDocument/2006/relationships/slide" Target="/ppt/slides/slide3.xml" Id="R391f423506184f89" /><Relationship Type="http://schemas.openxmlformats.org/officeDocument/2006/relationships/slide" Target="/ppt/slides/slide4.xml" Id="Rc93377c24cb14ceb" /><Relationship Type="http://schemas.openxmlformats.org/officeDocument/2006/relationships/slide" Target="/ppt/slides/slide5.xml" Id="R54d153ccb9f44596" /><Relationship Type="http://schemas.openxmlformats.org/officeDocument/2006/relationships/slide" Target="/ppt/slides/slide6.xml" Id="R813779d2439f4145" /><Relationship Type="http://schemas.openxmlformats.org/officeDocument/2006/relationships/slide" Target="/ppt/slides/slide7.xml" Id="R358b26af028e4e1d" /><Relationship Type="http://schemas.openxmlformats.org/officeDocument/2006/relationships/slide" Target="/ppt/slides/slide8.xml" Id="R74e890237fca48ea" /><Relationship Type="http://schemas.openxmlformats.org/officeDocument/2006/relationships/slide" Target="/ppt/slides/slide9.xml" Id="R6d3f2cb7e121478f" /><Relationship Type="http://schemas.openxmlformats.org/officeDocument/2006/relationships/slide" Target="/ppt/slides/slide10.xml" Id="Rf292eda7040d4a22" /><Relationship Type="http://schemas.openxmlformats.org/officeDocument/2006/relationships/slide" Target="/ppt/slides/slide11.xml" Id="R40dec7dd34604e2e" /><Relationship Type="http://schemas.openxmlformats.org/officeDocument/2006/relationships/slide" Target="/ppt/slides/slide12.xml" Id="R6f101714e3de4d4a" /><Relationship Type="http://schemas.openxmlformats.org/officeDocument/2006/relationships/slide" Target="/ppt/slides/slide13.xml" Id="Rff2ec481405d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f14228819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f7dfd5fee4bb0" /><Relationship Type="http://schemas.openxmlformats.org/officeDocument/2006/relationships/notesMaster" Target="/ppt/notesMasters/notesMaster1.xml" Id="R67dd1f1c973b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0dc1ca78a434d" /><Relationship Type="http://schemas.openxmlformats.org/officeDocument/2006/relationships/notesMaster" Target="/ppt/notesMasters/notesMaster1.xml" Id="Recb46067ce80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32ba126274375" /><Relationship Type="http://schemas.openxmlformats.org/officeDocument/2006/relationships/notesMaster" Target="/ppt/notesMasters/notesMaster1.xml" Id="Ra3e3d587da7e43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9cc3b0b4ab46e9" /><Relationship Type="http://schemas.openxmlformats.org/officeDocument/2006/relationships/notesMaster" Target="/ppt/notesMasters/notesMaster1.xml" Id="R93447a2ce80c43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8970782bf64a5e" /><Relationship Type="http://schemas.openxmlformats.org/officeDocument/2006/relationships/notesMaster" Target="/ppt/notesMasters/notesMaster1.xml" Id="Rb2ffe9c4504d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48549a0f764fa2" /><Relationship Type="http://schemas.openxmlformats.org/officeDocument/2006/relationships/notesMaster" Target="/ppt/notesMasters/notesMaster1.xml" Id="R2fccd3407fb8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62b020ec84d16" /><Relationship Type="http://schemas.openxmlformats.org/officeDocument/2006/relationships/notesMaster" Target="/ppt/notesMasters/notesMaster1.xml" Id="R7bbe3a3dc660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48fd44d0e458b" /><Relationship Type="http://schemas.openxmlformats.org/officeDocument/2006/relationships/notesMaster" Target="/ppt/notesMasters/notesMaster1.xml" Id="R9cdfa014258048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aa70b701164bdf" /><Relationship Type="http://schemas.openxmlformats.org/officeDocument/2006/relationships/notesMaster" Target="/ppt/notesMasters/notesMaster1.xml" Id="R92f5d3a44d3f49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77b17088942cc" /><Relationship Type="http://schemas.openxmlformats.org/officeDocument/2006/relationships/notesMaster" Target="/ppt/notesMasters/notesMaster1.xml" Id="R603e22801e3c41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8e43384c1e414a" /><Relationship Type="http://schemas.openxmlformats.org/officeDocument/2006/relationships/notesMaster" Target="/ppt/notesMasters/notesMaster1.xml" Id="R410960ad8ded4e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ecd074e4104be0" /><Relationship Type="http://schemas.openxmlformats.org/officeDocument/2006/relationships/notesMaster" Target="/ppt/notesMasters/notesMaster1.xml" Id="R803dc2e74d8f41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57fb45d3f4829" /><Relationship Type="http://schemas.openxmlformats.org/officeDocument/2006/relationships/notesMaster" Target="/ppt/notesMasters/notesMaster1.xml" Id="R253672ac12c4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Imagen: dataset estandarizado del proyecto. Los datos de integrantes se mantienen pendientes para evitar inventar información.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adaptada desde el ejemplo proporcionado por el profesor. Contenido específico del proyecto Walmart.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definido con el cliente: detectar falta visual de productos en góndolas. El umbral 30% fue acordado como criterio inicial de alerta.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propuesto. La cámara en vivo es una evolución futura; el MVP utiliza carga de imágenes.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Objetivos definidos según el alcance actual del proyecto y el conjunto de datos entregado.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Requerimientos resumidos a partir de los anexos del proyecto. Resultados esperados no equivalen a resultados ya obtenidos.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del MVP. La propuesta se centra en disponibilidad visual, no inventario exacto ni clasificación obligatoria de SKU.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Diferenciador: decisión operativa explicable basada en disponibilidad visual, con revisión humana y evolución controlada.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Arquitectura: anexo Diseño. Datos: proceso de estandarización realizado sobre el dataset entregado; 59 imágenes únicas tras eliminar un duplicado.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propio del proyecto. Es una propuesta de interfaz, no una afirmación de que el modelo ya está integrado.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general de casos de uso: Anexos/Diseño. Los cinco casos están documentados en los anexos particulares.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Metodología propuesta: enfoque híbrido, iterativo para los componentes de visión computacional y plataforma.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Próximo paso técnico: entrenamiento y evaluación de la línea base con el dataset estandarizado.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8c3f3fb3a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69c5700674792" /><Relationship Type="http://schemas.openxmlformats.org/officeDocument/2006/relationships/slideLayout" Target="/ppt/slideLayouts/slideLayout1.xml" Id="R498f5de5d951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f5de5d951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624f2cc104803" /><Relationship Type="http://schemas.openxmlformats.org/officeDocument/2006/relationships/image" Target="/ppt/media/image.jpeg" Id="R9a7535063b24472e" /><Relationship Type="http://schemas.openxmlformats.org/officeDocument/2006/relationships/notesSlide" Target="/ppt/notesSlides/notesSlide1.xml" Id="R5a792d6ecd0f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541d163b4314" /><Relationship Type="http://schemas.openxmlformats.org/officeDocument/2006/relationships/notesSlide" Target="/ppt/notesSlides/notesSlide2.xml" Id="R1c57a0d54650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1b8a69c04811" /><Relationship Type="http://schemas.openxmlformats.org/officeDocument/2006/relationships/image" Target="/ppt/media/image2.jpeg" Id="R5babccd249d247f7" /><Relationship Type="http://schemas.openxmlformats.org/officeDocument/2006/relationships/notesSlide" Target="/ppt/notesSlides/notesSlide3.xml" Id="Rdbd031f85dea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d752a30e145f2" /><Relationship Type="http://schemas.openxmlformats.org/officeDocument/2006/relationships/notesSlide" Target="/ppt/notesSlides/notesSlide4.xml" Id="R03f79695af23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06f0275574f16" /><Relationship Type="http://schemas.openxmlformats.org/officeDocument/2006/relationships/notesSlide" Target="/ppt/notesSlides/notesSlide5.xml" Id="Rfb1bbb7202df46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d5f016a324efd" /><Relationship Type="http://schemas.openxmlformats.org/officeDocument/2006/relationships/notesSlide" Target="/ppt/notesSlides/notesSlide6.xml" Id="R96d9f149d0fb49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58698ac124149" /><Relationship Type="http://schemas.openxmlformats.org/officeDocument/2006/relationships/notesSlide" Target="/ppt/notesSlides/notesSlide7.xml" Id="Rbed477cf992e4e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61685019b452a" /><Relationship Type="http://schemas.openxmlformats.org/officeDocument/2006/relationships/notesSlide" Target="/ppt/notesSlides/notesSlide8.xml" Id="Rb8e09d7bde264e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15522634446bd" /><Relationship Type="http://schemas.openxmlformats.org/officeDocument/2006/relationships/image" Target="/ppt/media/image.png" Id="Rb1f418b0623b4218" /><Relationship Type="http://schemas.openxmlformats.org/officeDocument/2006/relationships/notesSlide" Target="/ppt/notesSlides/notesSlide9.xml" Id="R067c291f63ab47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12e5832c42f6" /><Relationship Type="http://schemas.openxmlformats.org/officeDocument/2006/relationships/image" Target="/ppt/media/image2.png" Id="Ra94155fc8fab494e" /><Relationship Type="http://schemas.openxmlformats.org/officeDocument/2006/relationships/notesSlide" Target="/ppt/notesSlides/notesSlide10.xml" Id="R285e07fb64eb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30e20d084ea3" /><Relationship Type="http://schemas.openxmlformats.org/officeDocument/2006/relationships/image" Target="/ppt/media/image3.png" Id="Rdfee07a6ee1b4fb4" /><Relationship Type="http://schemas.openxmlformats.org/officeDocument/2006/relationships/notesSlide" Target="/ppt/notesSlides/notesSlide11.xml" Id="Rfeeeed2941fe45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ccf100fae4497" /><Relationship Type="http://schemas.openxmlformats.org/officeDocument/2006/relationships/notesSlide" Target="/ppt/notesSlides/notesSlide12.xml" Id="R9d1f56bd6eb14d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3557837964339" /><Relationship Type="http://schemas.openxmlformats.org/officeDocument/2006/relationships/notesSlide" Target="/ppt/notesSlides/notesSlide13.xml" Id="R30f32168de6e4c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35063b24472e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oundRect">
            <a:avLst>
              <a:gd name="adj" fmla="val 189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E61A3-F54E-43F3-9F16-EBA164FD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3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61B53-3A1A-43D6-BF5A-EB957C8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B7BCA-FCDA-4B69-90ED-BE16216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DETECCIÓN DE</a:t>
            </a:r>
          </a:p>
          <a:p xmlns:a="http://schemas.openxmlformats.org/drawingml/2006/main">
            <a:pPr>
              <a:defRPr sz="29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DISPONIBILIDAD VISUAL</a:t>
            </a:r>
          </a:p>
          <a:p xmlns:a="http://schemas.openxmlformats.org/drawingml/2006/main">
            <a:pPr>
              <a:defRPr sz="29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4881B-69BF-4D93-9E04-F8A9760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5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567B9-C41A-4B32-948A-7BCB1847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Presentación de idea de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B4DE7-1DDF-42BC-83C6-B39CDE1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Integrantes: por completar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Sección: por completar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Profesor: por completar</a:t>
            </a:r>
          </a:p>
        </p:txBody>
      </p:sp>
    </p:spTree>
    <p:extLst>
      <p:ext uri="{BB962C8B-B14F-4D97-AF65-F5344CB8AC3E}">
        <p14:creationId xmlns:p14="http://schemas.microsoft.com/office/powerpoint/2010/main" val="105180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5D879-1A26-4B0B-BB93-151FB6F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1E4E5-ABEB-4CA6-ABA0-83FECA3D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Índice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650D9-2E6A-40E3-BD4E-C332F63C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77E57-C101-4155-8BCF-447D9CB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486B0-240D-4A7E-9253-00D3850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C0D88-8364-4912-9C65-53D1FC3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C8A71-C7E3-4951-A5F9-5A08A64A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1. Contexto, problema y propuesta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DBE21-639C-4A00-9EAF-2246685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955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A713B-DABE-4680-8450-368AD001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74C97-A444-4179-B178-DF88EDE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2. Objetivos y resultados esperados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89BB3-9FC1-405A-8888-9E7C8E7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1BD26-9B1D-41F9-A8E8-51FF3558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4C11C-5DA1-4542-A39F-9AADF4A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3. Requerimientos, alcance e innovación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A6B67-0957-4D8F-B08F-74FC16A0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147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197F4-5BDE-4F19-9F95-A96D2DB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33032-415F-4C4F-850D-023C168C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4. Enfoque tecnológico y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9A34F-80D0-4829-9D11-481E7053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243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19603-9F81-4D2A-B068-C0B9CFB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8395D-F531-4AC5-B8FE-C7B0D919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5. Casos de uso y metodología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349AC-95ED-47E7-BA29-EE3C98A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339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DCAC2-61FF-4B49-BDFE-C6C6D24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995AB-7641-405F-B028-77CBC31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6. Cierre y próximos pasos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2AF99-462A-4699-82D5-30630469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43DF7-91E1-4A34-9DCA-F46EEBDF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912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La presentación adapta la estructura del ejemplo: problema, objetivos, alcance, tecnología, modelado y metodología.</a:t>
            </a:r>
          </a:p>
        </p:txBody>
      </p:sp>
    </p:spTree>
    <p:extLst>
      <p:ext uri="{BB962C8B-B14F-4D97-AF65-F5344CB8AC3E}">
        <p14:creationId xmlns:p14="http://schemas.microsoft.com/office/powerpoint/2010/main" val="477657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5783B-11B8-41FE-9C04-E6E0E50F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AF6A0-047B-4149-8118-7184BE0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Contexto y problema detectado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D12C4-B0ED-4285-AFA3-B6FA530F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38613-E29A-4AB9-9C8E-6567191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29395-0CD6-4BE1-9F8E-967EDD09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2A918-3F31-4675-BA0E-07565FF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Las revisiones manuales de góndolas son puntuales y dependen de la observación del personal.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A4420-4583-4B94-BC19-91DF86A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4279F-BA64-4051-B671-DAE91DD4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La falta de producto visible puede tardar en ser detectada.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0B2A7-FEF3-4AD7-8EBE-75C4A96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A2B19-440B-44FF-949B-B75264D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Una imagen contiene evidencia, pero requiere análisis consistente.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BE2C9-F76E-4DC9-AF19-18CE619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53836-5A90-4BA6-B3CB-5D6C1EE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El equipo necesita priorizar reposición según disponibilidad visual.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bccd249d247f7"/>
          <a:srcRect xmlns:a="http://schemas.openxmlformats.org/drawingml/2006/main" l="9756" t="0" r="97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847850"/>
            <a:ext cx="44767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88533-4552-49DF-81E7-B725008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43500"/>
            <a:ext cx="3714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C33B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D6C5A-FEC7-4587-B5D8-D4568989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 inicial de alerta: disponibilidad visual &lt; 30%</a:t>
            </a:r>
          </a:p>
        </p:txBody>
      </p:sp>
    </p:spTree>
    <p:extLst>
      <p:ext uri="{BB962C8B-B14F-4D97-AF65-F5344CB8AC3E}">
        <p14:creationId xmlns:p14="http://schemas.microsoft.com/office/powerpoint/2010/main" val="266351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0B871-1362-4C02-B402-C7B5B9A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5BB81-D220-4371-844E-B4A3B08F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Propuesta de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004E6-566A-4D1A-8C3A-5A1323A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F0D68-AAA7-495E-866D-622FA3E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7B825-DBC4-48AB-B852-5A9C4A5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6A9FE-81B7-4163-A79F-89D4CE8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Una plataforma web analiza fotografías de góndolas y genera una alerta trazable cuando la disponibilidad visual queda bajo el umbral definido.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07A0-BAFA-4854-B0BC-FC7F3FA3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954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A317F-01A9-47FC-8847-A72AE37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DD6AE-A469-4B1A-AC05-623A807E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75179-4850-49E5-A73C-AA497F7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Captura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A611E-93CC-4985-9961-E0285B2A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Imagen cargada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o futura cámara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A4649-30A1-400F-86F6-A6F3C90F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52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11FCF-1B62-43AC-9392-39B54C5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43250"/>
            <a:ext cx="16954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DA93F-9556-45D4-B90F-4F7D095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EB3C4-006B-4793-9D7F-4F903C3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81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3853C-E3E1-4A65-A497-2BA694E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766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55E9A-0C6E-4C52-BC2A-C3D7638C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38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Calidad y formato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de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D4818-2D28-4AE2-B894-4A6039C7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52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5B6FF-016C-40C7-8C29-FB8BE14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6954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68668-226F-4FA8-8ED8-6F2A2B0B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1FBE8-6DA1-45C0-A123-D8C7BD1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81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C876E-5AF4-4CC1-BC69-A4F0935B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766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Análisis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420EC-15C5-4C7C-83B2-03B9F1C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38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Detector + cálculo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de cobertura visual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5A834-0F1F-418D-8EF5-ADA8569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52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1467F-175A-42FF-8CCC-A7D3A35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43250"/>
            <a:ext cx="16954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74D80-D81E-4690-8283-E513B2C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8DE1D-CC49-4179-86CF-EB922D7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81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3BAAF-6D76-4594-8806-D37EE5B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766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FECBC-1AC7-4E3D-AAFC-A26462A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38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Comparación contra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el umbral 30%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426D7-BEB2-440B-BA56-EFF187F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52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0C6E0-18C9-4C73-8689-600AFC8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16954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25337-300D-4845-8486-32454E88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DD612-178C-4D9C-AC3E-3C99FE3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1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D16DF-4B07-4FD5-9240-92DD7CC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766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32AD30-B7D8-4880-96C0-0AA5489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38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Alerta, evidencia</a:t>
            </a:r>
          </a:p>
          <a:p xmlns:a="http://schemas.openxmlformats.org/drawingml/2006/main">
            <a:pPr>
              <a:defRPr sz="11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y revisión humana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14B352-0180-44F7-9D11-8F61785A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El MVP trabaja con carga manual de imágenes. La integración con cámara se deja como evolución validable, no como funcionalidad ya implementada.</a:t>
            </a:r>
          </a:p>
        </p:txBody>
      </p:sp>
    </p:spTree>
    <p:extLst>
      <p:ext uri="{BB962C8B-B14F-4D97-AF65-F5344CB8AC3E}">
        <p14:creationId xmlns:p14="http://schemas.microsoft.com/office/powerpoint/2010/main" val="1146308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339A8-B1B7-4DE1-B70E-C881132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88F82-845C-4A2E-9251-2049C367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Objetivos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403A5-2A39-432D-8EDA-D164FD3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CDA05-6E78-4C53-9A61-84949003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F5017-066C-4737-B159-E831309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18AB2-7BAA-4427-ABF9-1C1E431E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Objetivo general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B9622-D02A-440D-B02A-AE0535CB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108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800C8-D8EA-4129-B3EA-A5B82DF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Desarrollar una plataforma que estime la disponibilidad visual de productos en góndolas a partir de imágenes, genere alertas bajo un umbral configurable y deje evidencia para la revisión operativa.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738B6-908F-46A0-8707-6ED6FCB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Objetivos específicos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DE84D-AF3A-44D3-8BD8-B1C7AAA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866B1-3FC7-4CB8-8DF6-426486FE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Estandarizar el conjunto de imágenes y sus anotaciones para un entrenamiento reproducible.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8F437-6A38-4AB4-AA69-6FB90156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F9007-F3C8-4F34-8808-5A841499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Evaluar un detector de objetos como línea base y medir su desempeño con datos reservados.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EFA2E-E506-4CF5-A668-1D55981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8AB8B-F353-48EB-84B7-C03B567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Calcular disponibilidad visual por zona de góndola y activar alerta bajo el umbral.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58EDF-7EB6-4C50-8B0C-17F6AE93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B0252-9792-4639-8945-E4D60E42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Exponer el análisis, resultado y evidencia mediante una plataforma web desplegable con Docker.</a:t>
            </a:r>
          </a:p>
        </p:txBody>
      </p:sp>
    </p:spTree>
    <p:extLst>
      <p:ext uri="{BB962C8B-B14F-4D97-AF65-F5344CB8AC3E}">
        <p14:creationId xmlns:p14="http://schemas.microsoft.com/office/powerpoint/2010/main" val="602182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3624B-8016-4FE6-99D5-0882487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BBAA7-802F-4D55-A705-476C23D9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Resultados esperados y requerimientos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633FF-FB5E-456A-AA06-67A9F7E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97CB4-E058-44F4-A02F-8105E27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64D0E-1706-4FC7-9FE1-5547AAE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B4ED2-EC3C-4A19-B5A6-343ACAA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Resultados esperados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DA68C-88DA-4116-B7F9-EC5B6284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C938-55F6-464C-B33D-DA01BFE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Clasificación operativa: alerta o sin alerta, con porcentaje de disponibilidad visual.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4A69D-3A78-45CD-9487-AC15899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389DF-E8DE-47DF-9756-96BF054C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Registro de cada análisis y evidencia de la imagen procesada.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7095C-1474-4FE1-8019-6AF26DDD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F7D0B-2000-4681-B4AC-F33FC936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Métrica de precisión y tiempo de respuesta para decidir continuidad del modelo.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C636D-63CF-4070-9201-C475E2C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Requerimientos prioritarios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6927F-19A0-49DB-979F-E7A99D3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5529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46AAC-24DD-4D90-B358-57DE217A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Funcionales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33912-1722-4DAE-9C47-AF9AC2D3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Cargar imagen, analizar disponibilidad, configurar umbral, consultar alertas e historial.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80855-0F3C-4017-B3B6-F1114C7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5529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6F77F-2C47-4EEA-9E89-EF065D0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No funcionales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BAC45-3B97-47FD-BC3F-7097859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Respuesta objetivo de segundos, trazabilidad, seguridad básica y despliegue reproducible con Docker.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AFA77-CBF0-46CA-BD18-10C0A636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Los indicadores finales se validarán durante las pruebas; no se declaran resultados de precisión antes de entrenar y evaluar.</a:t>
            </a:r>
          </a:p>
        </p:txBody>
      </p:sp>
    </p:spTree>
    <p:extLst>
      <p:ext uri="{BB962C8B-B14F-4D97-AF65-F5344CB8AC3E}">
        <p14:creationId xmlns:p14="http://schemas.microsoft.com/office/powerpoint/2010/main" val="1946293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D4E68-6560-47DD-9D0A-D70AEF8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20E97-010A-4A4F-9B3B-CEBD096F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Alcance y funcionalidades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C29E-C614-4CD0-9829-56F85EE9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76A76-33C2-424C-B1AF-C647FBB7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B8494-D8AE-4A41-9A8C-ECCBFC8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5B8E9-368E-46D7-BE5E-7CE46DF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95875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FF8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9A68-66D8-4559-AB4D-6CE8DC8E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97A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97A53"/>
                </a:solidFill>
                <a:latin typeface="Aptos"/>
                <a:ea typeface="Aptos"/>
                <a:cs typeface="Aptos"/>
              </a:rPr>
              <a:t>Incluido en el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0BF6F-17E3-4AB3-A9ED-DDE17048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01C19-7515-46F1-BA95-6DFB31C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Carga de imágenes JPG/PNG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15884-3E68-4A6E-8F65-9A16263F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4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76AAF-DA8D-426C-83E4-3BEECCB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3847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Análisis de disponibilidad 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13F7E-6515-4439-8BD2-14D204E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9F08F-6C7E-44E6-B3D8-9C5EF359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Alerta bajo umbral configurable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332DB-B269-4B92-B78F-2339C65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C6580-DB86-4C09-B0EA-1B9FEE3B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Historial y evidencia de análisis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A3EF9-0F5A-4659-BAE8-74F6D0A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C29F3-5CE4-492D-BE2F-8CAFB55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Roles operativos básicos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8C968-D280-4230-BC3A-D392922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C69C4-550D-477B-83BB-5749BF61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5297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Ejecución reproducible en Docker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9AC85-5F5A-415D-9D47-07D5500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5095875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B2A3C-1836-48A8-BF7E-8126C96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9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33B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33B35"/>
                </a:solidFill>
                <a:latin typeface="Aptos"/>
                <a:ea typeface="Aptos"/>
                <a:cs typeface="Aptos"/>
              </a:rPr>
              <a:t>Fuera de alcance inicial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31501-4922-4459-9EA7-69EB9F6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73C2C-5DB3-4482-9CAC-5486A84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0985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Conteo exacto de inventario físico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0BEA1-5F38-4709-ACEE-50C8B4A6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7A0CE-7A02-45D4-96F0-0235D868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384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Identificación obligatoria de 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B802F-4ED1-491C-80D5-E285E38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9A405-39E7-456C-8534-B603382F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6710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Integración productiva con cámaras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A1197-35AD-4FF3-BAAD-D299A066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971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22DD29-5997-4959-9D3A-2FC6FFF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957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Reposición automática sin revisión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B21E5-02E1-47C4-ADDC-0B6A5F0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AAF89-3815-4E1F-A4D4-105A427C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2435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Entrenamiento continuo autónomo en producción</a:t>
            </a:r>
          </a:p>
        </p:txBody>
      </p:sp>
    </p:spTree>
    <p:extLst>
      <p:ext uri="{BB962C8B-B14F-4D97-AF65-F5344CB8AC3E}">
        <p14:creationId xmlns:p14="http://schemas.microsoft.com/office/powerpoint/2010/main" val="940826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333EE-EF90-4E73-B943-D9310EF2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3F197-8408-4346-9C91-EEC6318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Elemento diferenciador e innovación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41AF4-5E81-447D-9C2F-7C202E19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59CC-DC30-44DD-A52E-2CC7A7BB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947-D273-4016-9095-9ECF29AD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84E14-4062-4008-95E1-13DD5516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El valor no está en afirmar que la IA conoce todo el inventario: está en convertir una imagen común de la góndola en una señal operativa explicable.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BFE3E-4D5E-478E-B532-2A46CB3A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18135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62B52-829B-4C60-BB5F-81E221E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2900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45159-02A1-440C-9FF1-B5E486E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528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Disponibilidad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73E37-491A-4E7B-B4BC-0AFC9A8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910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Evalúa ocupación visible por zona, evitando prometer inventario físico exacto.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C8F8B-F76D-4EC4-8157-774D526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318135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6DFCC-7523-4483-9E27-7BEA943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DCE80-3C4A-4AB6-BE4D-7224EE9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528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Alerta explicable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09736-CA0F-46CC-891D-A635370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Guarda umbral, resultado e imagen para que una persona valide el caso.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73619-978F-4A41-A5CE-B3A68F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18135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F3767-5D08-4A2C-847E-E9EE6D1C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2900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1AF9F-6B71-4CC1-9EBE-F3C7EFB0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528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Diseño evolutivo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A18A8-D639-4FBA-B4E5-FD407250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910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Parte con carga manual y deja preparada la integración futura de cámara y mejora del dataset.</a:t>
            </a:r>
          </a:p>
        </p:txBody>
      </p:sp>
    </p:spTree>
    <p:extLst>
      <p:ext uri="{BB962C8B-B14F-4D97-AF65-F5344CB8AC3E}">
        <p14:creationId xmlns:p14="http://schemas.microsoft.com/office/powerpoint/2010/main" val="907512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25384-101C-4BA4-B549-6E37C4E2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73278-665D-4710-BE64-B906A9E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Alcance tecnológico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350D3-26A4-4FDD-A94C-C6446C5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A1AF-BFB0-4A89-A561-78408481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2C3E5-18D7-4F6D-8991-AF888174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18b0623b4218"/>
          <a:stretch xmlns:a="http://schemas.openxmlformats.org/drawingml/2006/main"/>
        </p:blipFill>
        <p:spPr>
          <a:xfrm xmlns:a="http://schemas.openxmlformats.org/drawingml/2006/main">
            <a:off x="666750" y="2010172"/>
            <a:ext cx="5191125" cy="3028156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D7346-0FAE-45E4-A8A8-122E2D96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Stack propuesto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9A20B-23EF-4CCA-BD9D-D79836F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51CCD-1E20-4835-9A89-BDEA3D3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Python, FastAPI y Docker para servicio reproducible.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AC0DD-F504-4D99-A6D7-06AFE30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07F28-0961-4DE2-A798-FA8BC81C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28925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YOLO como línea base de detección; OpenCV y NumPy para la cobertura visual.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F3DD6-B370-46AA-8855-71E75DD1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C7937-A043-44DF-9CB2-D0C4E45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Base de datos relacional para análisis, alertas, parámetros y usuarios.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F34AE-64D2-4F79-93CA-4A25F35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14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1998-6F86-4ADD-ADF8-7587242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38575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Interfaz web para carga, resultado, configuración e historial.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7A3E3-7D92-40AB-B16F-ECF3FFE1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2987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3C588-725D-40A1-9D0A-DFEE09C7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Datos disponibles: 60 imágenes recibidas; tras eliminar un duplicado, 59 imágenes estandarizadas. Las anotaciones actuales son cajas de detección, adecuadas para una primera línea base.</a:t>
            </a:r>
          </a:p>
        </p:txBody>
      </p:sp>
    </p:spTree>
    <p:extLst>
      <p:ext uri="{BB962C8B-B14F-4D97-AF65-F5344CB8AC3E}">
        <p14:creationId xmlns:p14="http://schemas.microsoft.com/office/powerpoint/2010/main" val="1278818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D01E0-1494-468D-867A-BA7EDF7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4B30-8B03-4446-8403-F74B4D5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Experiencia de usuario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8957B-A0A7-4CCB-AC6B-AF5C058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C4747-7173-49CB-B064-CDBF4CA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2BC37-6DAA-4230-82AE-3DB18726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155fc8fab494e"/>
          <a:stretch xmlns:a="http://schemas.openxmlformats.org/drawingml/2006/main"/>
        </p:blipFill>
        <p:spPr>
          <a:xfrm xmlns:a="http://schemas.openxmlformats.org/drawingml/2006/main">
            <a:off x="1409700" y="1809750"/>
            <a:ext cx="48006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08DE-29F9-48F5-B747-1C953EA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Operación simple para el personal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73386-EB21-47B3-A76B-5344017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34EE3-B40C-4553-A25E-CAD7F2E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Cargar una fotografía de góndola.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77E87-521B-4C74-B371-AE0ED28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35870-17B2-46BF-AE87-A73F7C7F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Revisar el porcentaje estimado y la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DE735-86B2-4912-811B-57032867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2AE25-078B-4C50-B22E-30BB021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Recibir una alerta cuando el resultado sea menor al 30%.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009C1-C7BA-4888-8F49-C691EEC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38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E8F79-7297-4401-81FA-BB0D5F3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Consultar el historial y ajustar el umbral autorizado.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016C9-DB39-4A35-8E1C-808D3298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El mockup representa la propuesta de interfaz; el modelo de visión aún debe ser entrenado y validado.</a:t>
            </a:r>
          </a:p>
        </p:txBody>
      </p:sp>
    </p:spTree>
    <p:extLst>
      <p:ext uri="{BB962C8B-B14F-4D97-AF65-F5344CB8AC3E}">
        <p14:creationId xmlns:p14="http://schemas.microsoft.com/office/powerpoint/2010/main" val="448584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8F30E-5B30-4093-ACC9-52131FC4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CFB8D-6016-4C91-A41B-45A44F0D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Casos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B3090-DF4A-4D82-9DB1-B714FB1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560FC-194D-4F5D-BC7E-33BA25A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C7EDB-05C7-47F0-88C4-CAB8D53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8BC39-770F-473E-AA49-1723A89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El modelado identifica a los actores operativos y las interacciones mínimas para entregar una alerta verificable.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e07a6ee1b4fb4"/>
          <a:stretch xmlns:a="http://schemas.openxmlformats.org/drawingml/2006/main"/>
        </p:blipFill>
        <p:spPr>
          <a:xfrm xmlns:a="http://schemas.openxmlformats.org/drawingml/2006/main">
            <a:off x="1198789" y="2343150"/>
            <a:ext cx="5470071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4EAB7-C1F6-4D13-95C3-F02DE521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Casos prioritarios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072FD-266E-47DB-8D4A-32C5C9F8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37EBC-48A5-4332-B92E-76FDD4C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CU-01: Cargar imagen de góndola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06FA7-6A0F-4A63-A6CD-3364134C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8578B-2219-4FD0-9D34-D7F61F82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CU-02: Analizar disponibilidad 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599FA-265E-4AB6-929B-526F172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00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698D-3710-48CF-B4CF-965009C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CU-03: Configurar umbral de alerta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AD4D6-D8CD-415F-A0EB-2340FFA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DE28B-241B-47BC-8CB3-54E2CCDE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CU-04: Consultar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9672B-54BC-4172-B1F2-0ED17200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FD9C3-EBCB-4E63-B33B-D0E68C9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434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CU-05: Consultar historial</a:t>
            </a:r>
          </a:p>
        </p:txBody>
      </p:sp>
    </p:spTree>
    <p:extLst>
      <p:ext uri="{BB962C8B-B14F-4D97-AF65-F5344CB8AC3E}">
        <p14:creationId xmlns:p14="http://schemas.microsoft.com/office/powerpoint/2010/main" val="1109511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87217-3EF4-457C-B3BB-795D22C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678E3-9834-4D62-8117-9D1BF3E2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Metodología y fases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6A013-385A-4A73-9E2A-4ACEF91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1ABF4-94F5-4DFE-9D1F-2A79942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Proyecto de título APT - Disponibilidad visual en góndolas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A4013-9B41-48CC-BCEA-8CA54AE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EFA8C-58F9-43C3-AE11-031AABE2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Enfoque híbrido: documentación y validación temprana, con ciclos cortos para datos, modelo y plataforma.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930BC-6598-4431-B2B0-25EA08C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866900" cy="1733550"/>
          </a:xfrm>
          <a:prstGeom xmlns:a="http://schemas.openxmlformats.org/drawingml/2006/main" prst="roundRect">
            <a:avLst>
              <a:gd name="adj" fmla="val 93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75A0A-AC82-4AEE-8198-38B79E8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9E688-0CA7-46C7-86E4-151EFF9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Definición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1AE0D-72DD-46B4-81A8-CA37FBC2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Requerimientos, alcance, riesgos y criterios de alerta.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579D8-9B52-47E6-9E08-8D7C901C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481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D1FE0-30E9-42A5-80AC-5B52FB3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90875"/>
            <a:ext cx="1866900" cy="1733550"/>
          </a:xfrm>
          <a:prstGeom xmlns:a="http://schemas.openxmlformats.org/drawingml/2006/main" prst="roundRect">
            <a:avLst>
              <a:gd name="adj" fmla="val 93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81A6B-DB45-4062-B9BB-C540A9F4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81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28C30-71C5-4A33-8CC9-4BBF4BD3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90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C03DA-9373-4112-B134-2B10ED5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910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Inventario, estandarización, partición y control de calidad.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918F1-1D8C-4FA1-99E8-B049F181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1E37C-0ED3-4118-9F8A-BBA66E0C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1866900" cy="1733550"/>
          </a:xfrm>
          <a:prstGeom xmlns:a="http://schemas.openxmlformats.org/drawingml/2006/main" prst="roundRect">
            <a:avLst>
              <a:gd name="adj" fmla="val 93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73C2A-D90F-4B67-BD83-8E57341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81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2B62A-A746-4E45-AFDA-FEEF042D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Línea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5EE8E-D548-4A4A-AD4B-E67261C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910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Entrenamiento, evaluación y comparación de alternativas.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39B0B-C55C-486A-BEC3-13FEAE7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481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82B3C-9290-462D-8BBD-D5D1B19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1866900" cy="1733550"/>
          </a:xfrm>
          <a:prstGeom xmlns:a="http://schemas.openxmlformats.org/drawingml/2006/main" prst="roundRect">
            <a:avLst>
              <a:gd name="adj" fmla="val 93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21571-B4EC-4BC9-8AB2-1D4CD582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81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AE3E1-7A13-4884-BFE3-CB1D017C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90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Integración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B66A1-C090-4D35-AEF7-69C5DA00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910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API, plataforma web, persistencia y Docker.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2859A-B69F-4479-BB31-359F2F2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481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5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EDA89-B4C0-4093-B798-EF89DD2A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90875"/>
            <a:ext cx="1866900" cy="1733550"/>
          </a:xfrm>
          <a:prstGeom xmlns:a="http://schemas.openxmlformats.org/drawingml/2006/main" prst="roundRect">
            <a:avLst>
              <a:gd name="adj" fmla="val 93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DCEC7-C06F-4E6C-89C1-5E694F99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81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77CFC-4655-4F64-8867-D0A0D53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5E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5E7A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7CD40-B1B4-4945-9F89-960F615B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910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33"/>
                </a:solidFill>
                <a:latin typeface="Aptos"/>
                <a:ea typeface="Aptos"/>
                <a:cs typeface="Aptos"/>
              </a:rPr>
              <a:t>Pruebas end-to-end, métricas, retroalimentación y cierre.</a:t>
            </a:r>
          </a:p>
        </p:txBody>
      </p:sp>
    </p:spTree>
    <p:extLst>
      <p:ext uri="{BB962C8B-B14F-4D97-AF65-F5344CB8AC3E}">
        <p14:creationId xmlns:p14="http://schemas.microsoft.com/office/powerpoint/2010/main" val="1085742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6271A-D4B8-4BF9-A893-53E1589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Duoc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ED4FF-834E-46B4-B1B5-3F4A025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7A86A-3FAE-46C8-A2F5-8C82A67F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5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664F4-62F1-41F9-8780-1F9BF3B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propuesta transforma imágenes de góndolas en una señal operativa para priorizar revisión y reposición.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2596E-39E7-40C0-97A5-65BE04E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E0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0E7"/>
                </a:solidFill>
                <a:latin typeface="Aptos"/>
                <a:ea typeface="Aptos"/>
                <a:cs typeface="Aptos"/>
              </a:rPr>
              <a:t>El siguiente hito es validar la línea base con el dataset estandarizado y demostrar que el criterio de alerta puede operar con trazabilidad, en un entorno Dockerizado.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691B-D003-40D2-9252-BFC74C0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3429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2A0E4-9159-4E67-98D1-3DB50C73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2628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PRÓXIMO PASO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Entrenar y evaluar</a:t>
            </a:r>
          </a:p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la línea base de detección</a:t>
            </a:r>
          </a:p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con las 59 imágenes</a:t>
            </a:r>
          </a:p>
          <a:p xmlns:a="http://schemas.openxmlformats.org/drawingml/2006/main">
            <a:pPr>
              <a:defRPr sz="1725" b="1">
                <a:solidFill>
                  <a:srgbClr val="1824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3"/>
                </a:solidFill>
                <a:latin typeface="Aptos"/>
                <a:ea typeface="Aptos"/>
                <a:cs typeface="Aptos"/>
              </a:rPr>
              <a:t>estandarizadas.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7DEDF-8D0E-4478-906D-1ACE36D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B5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B500"/>
                </a:solidFill>
                <a:latin typeface="Aptos"/>
                <a:ea typeface="Aptos"/>
                <a:cs typeface="Aptos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552097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2026-09-12T06:31:59.8000000Z</dcterms:created>
  <dcterms:modified xsi:type="dcterms:W3CDTF">2026-09-12T06:31:59.8000000Z</dcterms:modified>
</coreProperties>
</file>